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Alexandria Light" panose="020B0604020202020204" charset="-78"/>
      <p:regular r:id="rId13"/>
    </p:embeddedFont>
    <p:embeddedFont>
      <p:font typeface="Alexandria SemiBold" panose="020B0604020202020204" charset="-78"/>
      <p:regular r:id="rId14"/>
    </p:embeddedFont>
    <p:embeddedFont>
      <p:font typeface="Sora Bold" panose="020B0604020202020204" charset="0"/>
      <p:regular r:id="rId15"/>
    </p:embeddedFont>
    <p:embeddedFont>
      <p:font typeface="Sora Light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1528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1412379"/>
            <a:ext cx="4767114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Sentiment Analysis for Movie Reviews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902943" y="2506340"/>
            <a:ext cx="4767114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An intelligent NLP-powered system that automatically classifies movie reviews as </a:t>
            </a: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positive, negative, or neutral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— delivering actionable audience insights through machine learning and natural language processing.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02943" y="3525441"/>
            <a:ext cx="1319659" cy="205680"/>
          </a:xfrm>
          <a:prstGeom prst="roundRect">
            <a:avLst>
              <a:gd name="adj" fmla="val 22121"/>
            </a:avLst>
          </a:prstGeom>
          <a:solidFill>
            <a:srgbClr val="D5DCF6"/>
          </a:solidFill>
          <a:ln/>
        </p:spPr>
      </p:sp>
      <p:sp>
        <p:nvSpPr>
          <p:cNvPr id="6" name="Text 3"/>
          <p:cNvSpPr/>
          <p:nvPr/>
        </p:nvSpPr>
        <p:spPr>
          <a:xfrm>
            <a:off x="3984129" y="3565996"/>
            <a:ext cx="1614488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ACADEMIC PROJECT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5290245" y="3525441"/>
            <a:ext cx="2912418" cy="205680"/>
          </a:xfrm>
          <a:prstGeom prst="roundRect">
            <a:avLst>
              <a:gd name="adj" fmla="val 22121"/>
            </a:avLst>
          </a:prstGeom>
          <a:noFill/>
          <a:ln w="4763">
            <a:solidFill>
              <a:srgbClr val="1A2D7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71430" y="3565996"/>
            <a:ext cx="3207246" cy="124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1A2D7A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NLP · MACHINE LEARNING · SENTIMENT ANALYSIS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3943" y="452884"/>
            <a:ext cx="4767114" cy="127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The Problem: Understanding Audience Sentiment at Scale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473943" y="1910953"/>
            <a:ext cx="4767114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Movie platforms receive thousands of reviews daily. Manually interpreting this volume is impractical — and critical audience signals go undetected.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473943" y="2452464"/>
            <a:ext cx="2322016" cy="1158329"/>
          </a:xfrm>
          <a:prstGeom prst="roundRect">
            <a:avLst>
              <a:gd name="adj" fmla="val 468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7740" y="2586261"/>
            <a:ext cx="2054423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Volume Overload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7740" y="2872234"/>
            <a:ext cx="2054423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Millions of reviews posted daily across platforms — impossible to analyze manually.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18966" y="2452464"/>
            <a:ext cx="2322091" cy="1158329"/>
          </a:xfrm>
          <a:prstGeom prst="roundRect">
            <a:avLst>
              <a:gd name="adj" fmla="val 468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52762" y="2586261"/>
            <a:ext cx="2054498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Subjectivity Gap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052762" y="2872234"/>
            <a:ext cx="2054498" cy="604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Human bias and inconsistency make manual sentiment labeling unreliable at scale.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73943" y="3733800"/>
            <a:ext cx="4767114" cy="956742"/>
          </a:xfrm>
          <a:prstGeom prst="roundRect">
            <a:avLst>
              <a:gd name="adj" fmla="val 5666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7740" y="3867596"/>
            <a:ext cx="4499521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Delayed Insights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07740" y="4153570"/>
            <a:ext cx="4499521" cy="403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Without automation, audience trends surface too late to inform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6684"/>
            <a:ext cx="8196114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Project Objectives</a:t>
            </a:r>
            <a:endParaRPr lang="en-US" sz="1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713556"/>
            <a:ext cx="4010323" cy="4010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4497" y="2351410"/>
            <a:ext cx="4010323" cy="1183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What We Set Out to Build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4497" y="2507903"/>
            <a:ext cx="4010323" cy="176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system bridges raw user-generated text and structured audience intelligence — automating opinion mining from ingestion to insight.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4497" y="2718495"/>
            <a:ext cx="4010323" cy="392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 sentiment classification with high accuracy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Deliver real-time predictions through a user-friendly interface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Generate trend reports and sentiment distribution visualizations</a:t>
            </a:r>
            <a:endParaRPr lang="en-US" sz="550" dirty="0"/>
          </a:p>
          <a:p>
            <a:pPr marL="111760" indent="-111760" algn="l">
              <a:lnSpc>
                <a:spcPct val="102000"/>
              </a:lnSpc>
              <a:buSzPct val="100000"/>
              <a:buChar char="•"/>
            </a:pPr>
            <a:r>
              <a:rPr lang="en-US" sz="5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Support data-driven decisions for content and marketing teams</a:t>
            </a:r>
            <a:endParaRPr lang="en-US" sz="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00199"/>
            <a:ext cx="8196114" cy="2922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System Architecture</a:t>
            </a:r>
            <a:endParaRPr lang="en-US" sz="1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809104"/>
            <a:ext cx="8196114" cy="37509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77631" y="1234651"/>
            <a:ext cx="1908378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Input &amp; Output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77631" y="1537710"/>
            <a:ext cx="1998402" cy="450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review input; sentiment label and dashboard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67762" y="2467536"/>
            <a:ext cx="1837240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Processing Layer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67762" y="2770595"/>
            <a:ext cx="1837240" cy="450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8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Preprocessing, tokenization, feature extraction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77631" y="3179164"/>
            <a:ext cx="1908378" cy="2385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Core ML Engine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77631" y="3482223"/>
            <a:ext cx="1998402" cy="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Logistic Regression, LSTM, BERT models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73943" y="4625578"/>
            <a:ext cx="8653314" cy="117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pipeline flows seamlessly from raw text input through NLP preprocessing and ML classification to structured sentiment output — all orchestrated within a secure, scalable backend.</a:t>
            </a:r>
            <a:endParaRPr lang="en-US" sz="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2368"/>
            <a:ext cx="819611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NLP Pipeline &amp; Text Preprocessing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73943" y="2539380"/>
            <a:ext cx="4015457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From Raw Text to Clean Tokens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73943" y="2684487"/>
            <a:ext cx="4015457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Every review undergoes a standardized preprocessing sequence to reduce noise and normalize language before feature extraction.</a:t>
            </a:r>
            <a:endParaRPr lang="en-US" sz="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9362" y="683791"/>
            <a:ext cx="4015457" cy="40154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3943" y="4775299"/>
            <a:ext cx="135359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01</a:t>
            </a:r>
            <a:endParaRPr lang="en-US" sz="500" dirty="0"/>
          </a:p>
        </p:txBody>
      </p:sp>
      <p:sp>
        <p:nvSpPr>
          <p:cNvPr id="7" name="Shape 4"/>
          <p:cNvSpPr/>
          <p:nvPr/>
        </p:nvSpPr>
        <p:spPr>
          <a:xfrm>
            <a:off x="473943" y="4880744"/>
            <a:ext cx="4081165" cy="9525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8" name="Text 5"/>
          <p:cNvSpPr/>
          <p:nvPr/>
        </p:nvSpPr>
        <p:spPr>
          <a:xfrm>
            <a:off x="473943" y="4933578"/>
            <a:ext cx="408116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Text Cleaning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73943" y="5065142"/>
            <a:ext cx="408116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 HTML tags, special characters, URLs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4588892" y="4775299"/>
            <a:ext cx="135359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02</a:t>
            </a:r>
            <a:endParaRPr lang="en-US" sz="500" dirty="0"/>
          </a:p>
        </p:txBody>
      </p:sp>
      <p:sp>
        <p:nvSpPr>
          <p:cNvPr id="11" name="Shape 8"/>
          <p:cNvSpPr/>
          <p:nvPr/>
        </p:nvSpPr>
        <p:spPr>
          <a:xfrm>
            <a:off x="4588892" y="4880744"/>
            <a:ext cx="4081165" cy="9525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2" name="Text 9"/>
          <p:cNvSpPr/>
          <p:nvPr/>
        </p:nvSpPr>
        <p:spPr>
          <a:xfrm>
            <a:off x="4588892" y="4933578"/>
            <a:ext cx="408116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Lowercasing &amp; Normalization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88892" y="5065142"/>
            <a:ext cx="408116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Standardize casing and expand contractions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473943" y="5230937"/>
            <a:ext cx="135359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03</a:t>
            </a:r>
            <a:endParaRPr lang="en-US" sz="500" dirty="0"/>
          </a:p>
        </p:txBody>
      </p:sp>
      <p:sp>
        <p:nvSpPr>
          <p:cNvPr id="15" name="Shape 12"/>
          <p:cNvSpPr/>
          <p:nvPr/>
        </p:nvSpPr>
        <p:spPr>
          <a:xfrm>
            <a:off x="473943" y="5336381"/>
            <a:ext cx="4081165" cy="9525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16" name="Text 13"/>
          <p:cNvSpPr/>
          <p:nvPr/>
        </p:nvSpPr>
        <p:spPr>
          <a:xfrm>
            <a:off x="473943" y="5389215"/>
            <a:ext cx="408116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Tokenization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473943" y="5520779"/>
            <a:ext cx="408116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Split text into words or subword units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4588892" y="5230937"/>
            <a:ext cx="135359" cy="846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Alexandria Light" pitchFamily="34" charset="0"/>
                <a:ea typeface="Alexandria Light" pitchFamily="34" charset="-122"/>
                <a:cs typeface="Alexandria Light" pitchFamily="34" charset="-120"/>
              </a:rPr>
              <a:t>04</a:t>
            </a:r>
            <a:endParaRPr lang="en-US" sz="500" dirty="0"/>
          </a:p>
        </p:txBody>
      </p:sp>
      <p:sp>
        <p:nvSpPr>
          <p:cNvPr id="19" name="Shape 16"/>
          <p:cNvSpPr/>
          <p:nvPr/>
        </p:nvSpPr>
        <p:spPr>
          <a:xfrm>
            <a:off x="4588892" y="5336381"/>
            <a:ext cx="4081165" cy="9525"/>
          </a:xfrm>
          <a:prstGeom prst="rect">
            <a:avLst/>
          </a:prstGeom>
          <a:solidFill>
            <a:srgbClr val="1A2D7A"/>
          </a:solidFill>
          <a:ln/>
        </p:spPr>
      </p:sp>
      <p:sp>
        <p:nvSpPr>
          <p:cNvPr id="20" name="Text 17"/>
          <p:cNvSpPr/>
          <p:nvPr/>
        </p:nvSpPr>
        <p:spPr>
          <a:xfrm>
            <a:off x="4588892" y="5389215"/>
            <a:ext cx="4081165" cy="11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Stopword Removal &amp; Stemming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4588892" y="5520779"/>
            <a:ext cx="4081165" cy="81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Filter noise words; reduce to root forms</a:t>
            </a:r>
            <a:endParaRPr lang="en-US" sz="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75270"/>
            <a:ext cx="8196114" cy="306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Feature Extraction &amp; Sentiment Classification</a:t>
            </a:r>
            <a:endParaRPr lang="en-US" sz="1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849437"/>
            <a:ext cx="5247977" cy="29738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53795" y="2105397"/>
            <a:ext cx="2720950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Representing Text for Machine Learning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953795" y="2322463"/>
            <a:ext cx="2720950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Preprocessed tokens are converted into numerical representations that ML models can learn from.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3943" y="3967163"/>
            <a:ext cx="2000994" cy="8009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4660" y="4069779"/>
            <a:ext cx="1757660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Bag-of-Words (BoW)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614660" y="4261247"/>
            <a:ext cx="1757660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Counts word occurrences; simple and interpretable.</a:t>
            </a:r>
            <a:endParaRPr lang="en-US" sz="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38933" y="3967163"/>
            <a:ext cx="2001069" cy="80099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679650" y="4069779"/>
            <a:ext cx="1757735" cy="153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TF-IDF Vectorization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2679650" y="4261247"/>
            <a:ext cx="1757735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Weights words by importance — penalizes common terms.</a:t>
            </a:r>
            <a:endParaRPr lang="en-US" sz="7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3998" y="3967163"/>
            <a:ext cx="2000994" cy="80099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44715" y="4069779"/>
            <a:ext cx="1757660" cy="30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Word Embeddings (Word2Vec / GloVe)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744715" y="4414317"/>
            <a:ext cx="1757660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Captures semantic meaning in dense vector space.</a:t>
            </a:r>
            <a:endParaRPr lang="en-US" sz="7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8988" y="3967163"/>
            <a:ext cx="2001069" cy="80099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809705" y="4069779"/>
            <a:ext cx="1757735" cy="30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Transformer Embeddings (BERT)</a:t>
            </a:r>
            <a:endParaRPr lang="en-US" sz="950" dirty="0"/>
          </a:p>
        </p:txBody>
      </p:sp>
      <p:sp>
        <p:nvSpPr>
          <p:cNvPr id="17" name="Text 10"/>
          <p:cNvSpPr/>
          <p:nvPr/>
        </p:nvSpPr>
        <p:spPr>
          <a:xfrm>
            <a:off x="6809705" y="4414317"/>
            <a:ext cx="1757735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Contextual representations for state-of-the-art accuracy.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656853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Model Training &amp; Evaluation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43" y="1457697"/>
            <a:ext cx="3932858" cy="28308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1962" y="1440731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Benchmarking Classification Performance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741962" y="1798737"/>
            <a:ext cx="3932858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Models are trained on labeled datasets (e.g., </a:t>
            </a: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IMDb, Rotten Tomatoes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) and evaluated on accuracy, precision, recall, and F1 score.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741962" y="2601144"/>
            <a:ext cx="3932858" cy="1177975"/>
          </a:xfrm>
          <a:prstGeom prst="roundRect">
            <a:avLst>
              <a:gd name="adj" fmla="val 4828"/>
            </a:avLst>
          </a:prstGeom>
          <a:solidFill>
            <a:srgbClr val="D5DCF6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7321" y="2804220"/>
            <a:ext cx="169218" cy="1353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181898" y="2756743"/>
            <a:ext cx="3357563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000000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Confusion Matrix</a:t>
            </a:r>
            <a:r>
              <a:rPr lang="en-US" sz="1050" dirty="0">
                <a:solidFill>
                  <a:srgbClr val="0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analysis reveals per-class performance — identifying whether the model confuses neutral reviews with positive or negative ones.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741962" y="3931444"/>
            <a:ext cx="3932858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BERT</a:t>
            </a: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consistently outperforms traditional models by leveraging contextual understanding of language.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2943" y="423193"/>
            <a:ext cx="4767114" cy="7237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Analytical Dashboard &amp; Key Features</a:t>
            </a:r>
            <a:endParaRPr lang="en-US" sz="22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02943" y="1280964"/>
            <a:ext cx="220042" cy="22004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902943" y="1612702"/>
            <a:ext cx="4767114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Sentiment Distribution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3902943" y="1847180"/>
            <a:ext cx="476711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Visual breakdown of positive, negative, and neutral reviews per movie.</a:t>
            </a:r>
            <a:endParaRPr lang="en-US" sz="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02943" y="2185467"/>
            <a:ext cx="220042" cy="22004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902943" y="2517204"/>
            <a:ext cx="4767114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Trend Analysis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3902943" y="2751683"/>
            <a:ext cx="476711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sentiment shifts over time to detect audience reaction patterns.</a:t>
            </a:r>
            <a:endParaRPr lang="en-US" sz="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02943" y="3089970"/>
            <a:ext cx="220042" cy="22004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02943" y="3421707"/>
            <a:ext cx="4767114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Model Performance Monitor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3902943" y="3656186"/>
            <a:ext cx="476711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Real-time accuracy, F1, and confusion matrix metrics for live models.</a:t>
            </a:r>
            <a:endParaRPr lang="en-US" sz="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02943" y="3994472"/>
            <a:ext cx="220042" cy="22004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902943" y="4326210"/>
            <a:ext cx="4767114" cy="180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Secure &amp; Scalable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3902943" y="4560689"/>
            <a:ext cx="4767114" cy="159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Role-based access, encrypted data storage, and cloud-ready architecture.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458242"/>
            <a:ext cx="8196114" cy="445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Applications, Advantages &amp; Limitations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73943" y="1242120"/>
            <a:ext cx="393285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Real-World Use Cases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94" y="1621259"/>
            <a:ext cx="203076" cy="2030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3954" y="1617092"/>
            <a:ext cx="34928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Streaming Platforms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13954" y="1975098"/>
            <a:ext cx="349284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Automate review moderation and highlight audience favorites.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94" y="2683446"/>
            <a:ext cx="203076" cy="2030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13954" y="2679278"/>
            <a:ext cx="34928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Marketing Teams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13954" y="3037284"/>
            <a:ext cx="349284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Gauge campaign impact and audience reception in real time.</a:t>
            </a:r>
            <a:endParaRPr lang="en-US" sz="10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4694" y="3745632"/>
            <a:ext cx="203076" cy="2030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3954" y="3741465"/>
            <a:ext cx="3492847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Social Media Monitoring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913954" y="4099471"/>
            <a:ext cx="3492847" cy="43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Track brand sentiment across Twitter, Reddit, and forums.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644405" y="1106760"/>
            <a:ext cx="4127971" cy="3578423"/>
          </a:xfrm>
          <a:prstGeom prst="roundRect">
            <a:avLst>
              <a:gd name="adj" fmla="val 2725"/>
            </a:avLst>
          </a:prstGeom>
          <a:solidFill>
            <a:srgbClr val="1A2D7A"/>
          </a:solidFill>
          <a:ln/>
        </p:spPr>
      </p:sp>
      <p:sp>
        <p:nvSpPr>
          <p:cNvPr id="14" name="Text 9"/>
          <p:cNvSpPr/>
          <p:nvPr/>
        </p:nvSpPr>
        <p:spPr>
          <a:xfrm>
            <a:off x="4779764" y="1242120"/>
            <a:ext cx="38572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779764" y="1600126"/>
            <a:ext cx="3857253" cy="961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High classification accuracy with transformer models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Fully automated — no manual labeling required post-training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Scalable to millions of reviews per day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4779764" y="2696914"/>
            <a:ext cx="3857253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779764" y="3054921"/>
            <a:ext cx="3857253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Sarcasm and irony remain challenging to detect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Domain-specific slang may reduce accuracy</a:t>
            </a:r>
            <a:endParaRPr lang="en-US" sz="1050" dirty="0"/>
          </a:p>
          <a:p>
            <a:pPr marL="213360" indent="-213360" algn="l">
              <a:lnSpc>
                <a:spcPct val="133000"/>
              </a:lnSpc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Neutral class often underrepresented in training data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3943" y="389334"/>
            <a:ext cx="8196114" cy="375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Future Enhancements &amp; Conclusion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73943" y="1006153"/>
            <a:ext cx="395867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Roadmap Ahead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2446139" y="1302469"/>
            <a:ext cx="14288" cy="2582689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5" name="Shape 3"/>
          <p:cNvSpPr/>
          <p:nvPr/>
        </p:nvSpPr>
        <p:spPr>
          <a:xfrm>
            <a:off x="1996306" y="1423839"/>
            <a:ext cx="342751" cy="14288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6" name="Shape 4"/>
          <p:cNvSpPr/>
          <p:nvPr/>
        </p:nvSpPr>
        <p:spPr>
          <a:xfrm>
            <a:off x="2324770" y="1302469"/>
            <a:ext cx="257026" cy="257026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63093" y="1318245"/>
            <a:ext cx="180380" cy="225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3943" y="1341686"/>
            <a:ext cx="1408063" cy="563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Phase 1 — Multilingual Support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3943" y="2001738"/>
            <a:ext cx="1408063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Extend NLP pipeline to Spanish, Hindi, and Mandarin reviews.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567508" y="2073548"/>
            <a:ext cx="342751" cy="14288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2324770" y="1952179"/>
            <a:ext cx="257026" cy="257026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63093" y="1967954"/>
            <a:ext cx="180380" cy="225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024560" y="1991395"/>
            <a:ext cx="1408063" cy="37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Phase 2 — Aspect-Level Sentiment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24560" y="2463552"/>
            <a:ext cx="140806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Detect sentiment toward specific movie elements: acting, plot, cinematography.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96306" y="2821260"/>
            <a:ext cx="342751" cy="14288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2324770" y="2699891"/>
            <a:ext cx="257026" cy="257026"/>
          </a:xfrm>
          <a:prstGeom prst="roundRect">
            <a:avLst>
              <a:gd name="adj" fmla="val 18670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63093" y="2715667"/>
            <a:ext cx="180380" cy="225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3943" y="2739107"/>
            <a:ext cx="1408063" cy="375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Phase 3 — Real-Time API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3943" y="3211264"/>
            <a:ext cx="1408063" cy="673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Deploy RESTful API for third-party integration with streaming and review platforms.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16140" y="1006153"/>
            <a:ext cx="3958679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1F1E1E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16140" y="1290414"/>
            <a:ext cx="3958679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system demonstrates how </a:t>
            </a:r>
            <a:r>
              <a:rPr lang="en-US" sz="850" b="1" dirty="0">
                <a:solidFill>
                  <a:srgbClr val="3B3535"/>
                </a:solidFill>
                <a:latin typeface="Sora Bold" pitchFamily="34" charset="0"/>
                <a:ea typeface="Sora Bold" pitchFamily="34" charset="-122"/>
                <a:cs typeface="Sora Bold" pitchFamily="34" charset="-120"/>
              </a:rPr>
              <a:t>NLP and machine learning</a:t>
            </a: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can transform unstructured movie reviews into structured, actionable audience intelligence.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87516" y="1990948"/>
            <a:ext cx="3787304" cy="5054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By automating sentiment classification, the platform empowers stakeholders to make faster, data-driven decisions — turning raw opinions into measurable insight.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16140" y="1904256"/>
            <a:ext cx="14288" cy="678805"/>
          </a:xfrm>
          <a:prstGeom prst="roundRect">
            <a:avLst>
              <a:gd name="adj" fmla="val 49998"/>
            </a:avLst>
          </a:prstGeom>
          <a:solidFill>
            <a:srgbClr val="1A2D7A"/>
          </a:solidFill>
          <a:ln/>
        </p:spPr>
      </p:sp>
      <p:sp>
        <p:nvSpPr>
          <p:cNvPr id="24" name="Shape 22"/>
          <p:cNvSpPr/>
          <p:nvPr/>
        </p:nvSpPr>
        <p:spPr>
          <a:xfrm>
            <a:off x="473943" y="4102001"/>
            <a:ext cx="8196114" cy="652165"/>
          </a:xfrm>
          <a:prstGeom prst="roundRect">
            <a:avLst>
              <a:gd name="adj" fmla="val 7358"/>
            </a:avLst>
          </a:prstGeom>
          <a:solidFill>
            <a:srgbClr val="D5DCF6"/>
          </a:solidFill>
          <a:ln w="4763">
            <a:solidFill>
              <a:srgbClr val="BBC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8706" y="4106763"/>
            <a:ext cx="2728838" cy="642640"/>
          </a:xfrm>
          <a:custGeom>
            <a:avLst/>
            <a:gdLst/>
            <a:ahLst/>
            <a:cxnLst/>
            <a:rect l="l" t="t" r="r" b="b"/>
            <a:pathLst>
              <a:path w="2728838" h="642640">
                <a:moveTo>
                  <a:pt x="39989" y="0"/>
                </a:moveTo>
                <a:lnTo>
                  <a:pt x="2728838" y="0"/>
                </a:lnTo>
                <a:lnTo>
                  <a:pt x="2728838" y="642640"/>
                </a:lnTo>
                <a:lnTo>
                  <a:pt x="39989" y="642640"/>
                </a:lnTo>
                <a:arcTo wR="39989" hR="39989" stAng="5400000" swAng="5400000"/>
                <a:lnTo>
                  <a:pt x="0" y="39989"/>
                </a:lnTo>
                <a:arcTo wR="39989" hR="39989" stAng="10800000" swAng="5400000"/>
                <a:close/>
              </a:path>
            </a:pathLst>
          </a:custGeom>
          <a:solidFill>
            <a:srgbClr val="D5DCF6"/>
          </a:solidFill>
          <a:ln/>
        </p:spPr>
      </p:sp>
      <p:sp>
        <p:nvSpPr>
          <p:cNvPr id="26" name="Text 24"/>
          <p:cNvSpPr/>
          <p:nvPr/>
        </p:nvSpPr>
        <p:spPr>
          <a:xfrm>
            <a:off x="592931" y="4220989"/>
            <a:ext cx="2500387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Accurate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92931" y="4466704"/>
            <a:ext cx="250038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Up to 94% with BERT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207544" y="4106763"/>
            <a:ext cx="2728838" cy="642640"/>
          </a:xfrm>
          <a:prstGeom prst="rect">
            <a:avLst/>
          </a:prstGeom>
          <a:solidFill>
            <a:srgbClr val="D5D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7544" y="4106763"/>
            <a:ext cx="14288" cy="642640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30" name="Text 28"/>
          <p:cNvSpPr/>
          <p:nvPr/>
        </p:nvSpPr>
        <p:spPr>
          <a:xfrm>
            <a:off x="3321769" y="4220989"/>
            <a:ext cx="2500387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Scalable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3321769" y="4466704"/>
            <a:ext cx="250038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Cloud-ready architecture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36382" y="4106763"/>
            <a:ext cx="2728838" cy="642640"/>
          </a:xfrm>
          <a:custGeom>
            <a:avLst/>
            <a:gdLst/>
            <a:ahLst/>
            <a:cxnLst/>
            <a:rect l="l" t="t" r="r" b="b"/>
            <a:pathLst>
              <a:path w="2728838" h="642640">
                <a:moveTo>
                  <a:pt x="0" y="0"/>
                </a:moveTo>
                <a:lnTo>
                  <a:pt x="2688849" y="0"/>
                </a:lnTo>
                <a:arcTo wR="39989" hR="39989" stAng="16200000" swAng="5400000"/>
                <a:lnTo>
                  <a:pt x="2728838" y="602650"/>
                </a:lnTo>
                <a:arcTo wR="39989" hR="39989" stAng="0" swAng="5400000"/>
                <a:lnTo>
                  <a:pt x="0" y="642640"/>
                </a:lnTo>
                <a:lnTo>
                  <a:pt x="0" y="0"/>
                </a:lnTo>
                <a:close/>
              </a:path>
            </a:pathLst>
          </a:custGeom>
          <a:solidFill>
            <a:srgbClr val="D5DCF6"/>
          </a:solidFill>
          <a:ln/>
        </p:spPr>
      </p:sp>
      <p:sp>
        <p:nvSpPr>
          <p:cNvPr id="33" name="Shape 31"/>
          <p:cNvSpPr/>
          <p:nvPr/>
        </p:nvSpPr>
        <p:spPr>
          <a:xfrm>
            <a:off x="5936382" y="4106763"/>
            <a:ext cx="14288" cy="642640"/>
          </a:xfrm>
          <a:prstGeom prst="roundRect">
            <a:avLst>
              <a:gd name="adj" fmla="val 49998"/>
            </a:avLst>
          </a:prstGeom>
          <a:solidFill>
            <a:srgbClr val="BBC2DC"/>
          </a:solidFill>
          <a:ln/>
        </p:spPr>
      </p:sp>
      <p:sp>
        <p:nvSpPr>
          <p:cNvPr id="34" name="Text 32"/>
          <p:cNvSpPr/>
          <p:nvPr/>
        </p:nvSpPr>
        <p:spPr>
          <a:xfrm>
            <a:off x="6050607" y="4220989"/>
            <a:ext cx="2500387" cy="187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3B3535"/>
                </a:solidFill>
                <a:latin typeface="Alexandria SemiBold" pitchFamily="34" charset="0"/>
                <a:ea typeface="Alexandria SemiBold" pitchFamily="34" charset="-122"/>
                <a:cs typeface="Alexandria SemiBold" pitchFamily="34" charset="-120"/>
              </a:rPr>
              <a:t>Insightful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050607" y="4466704"/>
            <a:ext cx="2500387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Rich dashboards &amp; trends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720</Words>
  <Application>Microsoft Office PowerPoint</Application>
  <PresentationFormat>On-screen Show (16:9)</PresentationFormat>
  <Paragraphs>113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Sora Light</vt:lpstr>
      <vt:lpstr>Alexandria SemiBold</vt:lpstr>
      <vt:lpstr>Sora Bold</vt:lpstr>
      <vt:lpstr>Alexandria Light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Dinesh kumar</dc:creator>
  <cp:lastModifiedBy>dinesh kumar pusarla</cp:lastModifiedBy>
  <cp:revision>1</cp:revision>
  <dcterms:created xsi:type="dcterms:W3CDTF">2026-07-28T05:47:25Z</dcterms:created>
  <dcterms:modified xsi:type="dcterms:W3CDTF">2026-09-30T09:03:03Z</dcterms:modified>
</cp:coreProperties>
</file>